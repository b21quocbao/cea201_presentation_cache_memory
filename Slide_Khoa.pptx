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845" r:id="rId1"/>
  </p:sldMasterIdLst>
  <p:notesMasterIdLst>
    <p:notesMasterId r:id="rId8"/>
  </p:notesMasterIdLst>
  <p:handoutMasterIdLst>
    <p:handoutMasterId r:id="rId9"/>
  </p:handoutMasterIdLst>
  <p:sldIdLst>
    <p:sldId id="263" r:id="rId2"/>
    <p:sldId id="264" r:id="rId3"/>
    <p:sldId id="258" r:id="rId4"/>
    <p:sldId id="341" r:id="rId5"/>
    <p:sldId id="266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1" autoAdjust="0"/>
    <p:restoredTop sz="90950"/>
  </p:normalViewPr>
  <p:slideViewPr>
    <p:cSldViewPr>
      <p:cViewPr>
        <p:scale>
          <a:sx n="105" d="100"/>
          <a:sy n="105" d="100"/>
        </p:scale>
        <p:origin x="41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0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5" Type="http://schemas.openxmlformats.org/officeDocument/2006/relationships/slide" Target="slides/slide6.xml"/><Relationship Id="rId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01E1364-DE62-CE46-A243-4D50977353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CFF1694-0D11-8148-AFBF-92DA6672A5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D4279664-3520-DF4E-89C5-6D1138ED563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29A29D8C-4C84-C340-AB4D-2B6B5C00C60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63273B-F0F9-7B4A-AEA4-96417A69219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C9F526D-ED37-9546-8D61-311E7FDC2A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30BBDD5-6709-6D4B-AC85-CB2891A12E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129DA0A1-4BD0-2F4B-A07C-709E4B945B43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C2244472-7739-EE47-A356-4B54620A7DE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EC1F5CD2-D293-E845-A699-1C773F7682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021CC617-51F8-AB44-A9FE-2DDA9FE30B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BB23D8-207C-9940-AF2D-5F6FFE300C4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2B44FB-5527-9144-984D-2E181A14C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FA870C-5D79-8841-8A18-EF346476488C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F07DAB16-26A4-944C-92B9-F1DA78B464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4A728727-0C21-254D-9359-0C3685FCE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80CD65-D29E-4D42-A14E-3855A9A42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B099CC-2EAA-5046-AB40-DD628E3A608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D6DC72B-27DB-824F-930B-C7708CEA2D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53E3CF3-3368-D04D-9297-59139143B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81EBEAF-E556-1E44-AF21-A15067BDD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2EAF39-343F-9B41-B90F-5B843EFD99B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4210" name="Rectangle 1026">
            <a:extLst>
              <a:ext uri="{FF2B5EF4-FFF2-40B4-BE49-F238E27FC236}">
                <a16:creationId xmlns:a16="http://schemas.microsoft.com/office/drawing/2014/main" id="{2A25C101-8232-F548-A9D4-9C84585ADF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1027">
            <a:extLst>
              <a:ext uri="{FF2B5EF4-FFF2-40B4-BE49-F238E27FC236}">
                <a16:creationId xmlns:a16="http://schemas.microsoft.com/office/drawing/2014/main" id="{EFD1A0DE-7AB4-324F-BAB6-64DFA7AD7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ADB1892-ECED-3F42-B53A-D833552BD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EBBD7C-9E0D-214B-A565-6241C929710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816D7885-940F-5043-8E89-4DB258BB595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510A1A9-2F3A-B349-A14E-3A69848AB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D3C5A14-E7E4-2C4A-81D2-9FDA8532F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DB328-3EC2-A440-8609-827F5734430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1C721483-DD0F-B44A-9145-D286BCD152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CD9DBE5-F10F-544E-BFF7-81E999427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4A2B2EB0-1F11-7C4B-BDEE-9266956D02E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694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20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14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13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0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80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6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0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27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0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551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7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5314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47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07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4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pPr/>
              <a:t>2/28/20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5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778BE1A2-3C4F-9B45-A900-CAE75FABD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Access Methods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9B385824-3494-064C-8D3B-1D6312FAA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178800" cy="5486400"/>
          </a:xfrm>
        </p:spPr>
        <p:txBody>
          <a:bodyPr/>
          <a:lstStyle/>
          <a:p>
            <a:r>
              <a:rPr lang="en-GB" altLang="en-US" dirty="0"/>
              <a:t>Sequential</a:t>
            </a:r>
          </a:p>
          <a:p>
            <a:pPr lvl="1"/>
            <a:r>
              <a:rPr lang="en-GB" altLang="en-US" sz="2200" dirty="0"/>
              <a:t>Memory is organized in units of data (records)</a:t>
            </a:r>
          </a:p>
          <a:p>
            <a:pPr lvl="1"/>
            <a:r>
              <a:rPr lang="en-GB" altLang="en-US" sz="2200" dirty="0"/>
              <a:t>Access must be made in linear sequence</a:t>
            </a:r>
          </a:p>
          <a:p>
            <a:pPr lvl="1"/>
            <a:r>
              <a:rPr lang="en-GB" altLang="en-US" sz="2200" dirty="0"/>
              <a:t>Time to access an arbitrary record is highly variable</a:t>
            </a:r>
          </a:p>
          <a:p>
            <a:pPr lvl="1"/>
            <a:r>
              <a:rPr lang="en-GB" altLang="en-US" sz="2200" dirty="0"/>
              <a:t>e.g. tape</a:t>
            </a:r>
          </a:p>
          <a:p>
            <a:pPr lvl="1"/>
            <a:endParaRPr lang="en-GB" altLang="en-US" sz="2200" dirty="0"/>
          </a:p>
          <a:p>
            <a:r>
              <a:rPr lang="en-GB" altLang="en-US" dirty="0"/>
              <a:t>Direct</a:t>
            </a:r>
          </a:p>
          <a:p>
            <a:pPr lvl="1"/>
            <a:r>
              <a:rPr lang="en-GB" altLang="en-US" sz="2200" dirty="0"/>
              <a:t>Individual blocks have unique address</a:t>
            </a:r>
          </a:p>
          <a:p>
            <a:pPr lvl="1"/>
            <a:r>
              <a:rPr lang="en-GB" altLang="en-US" sz="2200" dirty="0"/>
              <a:t>Access is by jumping to vicinity plus sequential search</a:t>
            </a:r>
          </a:p>
          <a:p>
            <a:pPr lvl="1"/>
            <a:r>
              <a:rPr lang="en-GB" altLang="en-US" sz="2200" dirty="0"/>
              <a:t>Access time depends on location and previous location</a:t>
            </a:r>
          </a:p>
          <a:p>
            <a:pPr lvl="1"/>
            <a:r>
              <a:rPr lang="en-GB" altLang="en-US" sz="2200" dirty="0"/>
              <a:t>e.g. disk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BA131136-F86D-194C-A801-6BBFA15CA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Access Methods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1AF3765B-CAF7-624E-A3BF-8083A2EE9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178800" cy="5334000"/>
          </a:xfrm>
        </p:spPr>
        <p:txBody>
          <a:bodyPr/>
          <a:lstStyle/>
          <a:p>
            <a:r>
              <a:rPr lang="en-GB" altLang="en-US" dirty="0"/>
              <a:t>Random</a:t>
            </a:r>
          </a:p>
          <a:p>
            <a:pPr lvl="1"/>
            <a:r>
              <a:rPr lang="en-GB" altLang="en-US" dirty="0"/>
              <a:t>Individual addresses identify locations exactly</a:t>
            </a:r>
          </a:p>
          <a:p>
            <a:pPr lvl="1"/>
            <a:r>
              <a:rPr lang="en-GB" altLang="en-US" dirty="0"/>
              <a:t>The time to access a given location is independent of the sequence of prior accesses (constant)</a:t>
            </a:r>
          </a:p>
          <a:p>
            <a:pPr lvl="1"/>
            <a:r>
              <a:rPr lang="en-GB" altLang="en-US" dirty="0"/>
              <a:t>e.g. RAM</a:t>
            </a:r>
          </a:p>
          <a:p>
            <a:pPr lvl="1">
              <a:buFontTx/>
              <a:buNone/>
            </a:pPr>
            <a:endParaRPr lang="en-GB" altLang="en-US" dirty="0"/>
          </a:p>
          <a:p>
            <a:r>
              <a:rPr lang="en-GB" altLang="en-US" dirty="0"/>
              <a:t>Associative</a:t>
            </a:r>
          </a:p>
          <a:p>
            <a:pPr lvl="1"/>
            <a:r>
              <a:rPr lang="en-GB" altLang="en-US" dirty="0"/>
              <a:t>Data is located by a comparison with contents of a portion of the store</a:t>
            </a:r>
          </a:p>
          <a:p>
            <a:pPr lvl="1"/>
            <a:r>
              <a:rPr lang="en-GB" altLang="en-US" dirty="0"/>
              <a:t>Access time is independent of location or previous access</a:t>
            </a:r>
          </a:p>
          <a:p>
            <a:pPr lvl="1"/>
            <a:r>
              <a:rPr lang="en-GB" altLang="en-US" dirty="0"/>
              <a:t>e.g.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EF52DCB1-A783-804A-8374-36CC956E5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Performance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60553B5-A4E4-4D4C-85A0-387FE3AFB7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458200" cy="5410200"/>
          </a:xfrm>
        </p:spPr>
        <p:txBody>
          <a:bodyPr/>
          <a:lstStyle/>
          <a:p>
            <a:r>
              <a:rPr lang="en-GB" altLang="en-US" dirty="0"/>
              <a:t>Access time</a:t>
            </a:r>
          </a:p>
          <a:p>
            <a:pPr lvl="1"/>
            <a:r>
              <a:rPr lang="en-GB" altLang="en-US" dirty="0"/>
              <a:t>Time between presenting the address and getting the valid data</a:t>
            </a:r>
          </a:p>
          <a:p>
            <a:pPr lvl="1"/>
            <a:endParaRPr lang="en-GB" altLang="en-US" dirty="0"/>
          </a:p>
          <a:p>
            <a:r>
              <a:rPr lang="en-GB" altLang="en-US" dirty="0"/>
              <a:t>Memory Cycle time</a:t>
            </a:r>
          </a:p>
          <a:p>
            <a:pPr lvl="1"/>
            <a:r>
              <a:rPr lang="en-GB" altLang="en-US" dirty="0"/>
              <a:t>Time may be required for the memory to “recover” before next access</a:t>
            </a:r>
          </a:p>
          <a:p>
            <a:pPr lvl="1"/>
            <a:r>
              <a:rPr lang="en-GB" altLang="en-US" dirty="0"/>
              <a:t>Cycle time is access + recovery (maybe rewrite)</a:t>
            </a:r>
          </a:p>
          <a:p>
            <a:pPr lvl="1"/>
            <a:endParaRPr lang="en-GB" altLang="en-US" dirty="0"/>
          </a:p>
          <a:p>
            <a:pPr lvl="1"/>
            <a:endParaRPr lang="en-GB" altLang="en-US" dirty="0"/>
          </a:p>
          <a:p>
            <a:pPr lvl="1"/>
            <a:endParaRPr lang="en-GB" altLang="en-US" dirty="0"/>
          </a:p>
          <a:p>
            <a:pPr marL="457200" lvl="1" indent="0">
              <a:buNone/>
            </a:pPr>
            <a:endParaRPr lang="en-GB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4DE6-D9F7-104F-88AF-BE427A7E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3511E-3000-B247-95E3-CA55174C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Transfer Rate</a:t>
            </a:r>
          </a:p>
          <a:p>
            <a:pPr lvl="1"/>
            <a:r>
              <a:rPr lang="en-GB" altLang="en-US" dirty="0"/>
              <a:t>Rate at which data can be moved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FCF60-4E2E-2E44-8E9A-7661E4B14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987361"/>
            <a:ext cx="55880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5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6E2B3C9-4809-8A40-BC0C-BB9DB238D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Characteristics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3B3C97D-DEFA-CE43-9DC9-8E47F5F891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178800" cy="5410200"/>
          </a:xfrm>
        </p:spPr>
        <p:txBody>
          <a:bodyPr/>
          <a:lstStyle/>
          <a:p>
            <a:r>
              <a:rPr lang="en-GB" altLang="en-US"/>
              <a:t>Decay</a:t>
            </a:r>
          </a:p>
          <a:p>
            <a:endParaRPr lang="en-GB" altLang="en-US"/>
          </a:p>
          <a:p>
            <a:r>
              <a:rPr lang="en-GB" altLang="en-US"/>
              <a:t>Volatility</a:t>
            </a:r>
          </a:p>
          <a:p>
            <a:endParaRPr lang="en-GB" altLang="en-US"/>
          </a:p>
          <a:p>
            <a:r>
              <a:rPr lang="en-GB" altLang="en-US"/>
              <a:t>Erasable</a:t>
            </a:r>
          </a:p>
          <a:p>
            <a:endParaRPr lang="en-GB" altLang="en-US"/>
          </a:p>
          <a:p>
            <a:r>
              <a:rPr lang="en-GB" altLang="en-US"/>
              <a:t>Power consumption</a:t>
            </a:r>
          </a:p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7F88083-6CB9-EC4E-ADEB-284A8B20C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Types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ECEDFBB-3C7F-8749-8C84-932AC6E93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178800" cy="5562600"/>
          </a:xfrm>
        </p:spPr>
        <p:txBody>
          <a:bodyPr>
            <a:normAutofit lnSpcReduction="10000"/>
          </a:bodyPr>
          <a:lstStyle/>
          <a:p>
            <a:r>
              <a:rPr lang="en-GB" altLang="en-US"/>
              <a:t>Semiconductor</a:t>
            </a:r>
          </a:p>
          <a:p>
            <a:pPr lvl="1"/>
            <a:r>
              <a:rPr lang="en-GB" altLang="en-US" sz="2200"/>
              <a:t>RAM</a:t>
            </a:r>
          </a:p>
          <a:p>
            <a:pPr lvl="1"/>
            <a:endParaRPr lang="en-GB" altLang="en-US" sz="2200"/>
          </a:p>
          <a:p>
            <a:r>
              <a:rPr lang="en-GB" altLang="en-US"/>
              <a:t>Magnetic</a:t>
            </a:r>
          </a:p>
          <a:p>
            <a:pPr lvl="1"/>
            <a:r>
              <a:rPr lang="en-GB" altLang="en-US" sz="2200"/>
              <a:t>Disk &amp; Tape</a:t>
            </a:r>
          </a:p>
          <a:p>
            <a:pPr lvl="1"/>
            <a:endParaRPr lang="en-GB" altLang="en-US" sz="2200"/>
          </a:p>
          <a:p>
            <a:r>
              <a:rPr lang="en-GB" altLang="en-US"/>
              <a:t>Optical</a:t>
            </a:r>
          </a:p>
          <a:p>
            <a:pPr lvl="1"/>
            <a:r>
              <a:rPr lang="en-GB" altLang="en-US" sz="1800"/>
              <a:t>CD &amp; DVD [&amp; Magneto-optical (MO)]</a:t>
            </a:r>
          </a:p>
          <a:p>
            <a:pPr lvl="1"/>
            <a:endParaRPr lang="en-GB" altLang="en-US" sz="1800"/>
          </a:p>
          <a:p>
            <a:r>
              <a:rPr lang="en-GB" altLang="en-US"/>
              <a:t>Others</a:t>
            </a:r>
          </a:p>
          <a:p>
            <a:pPr lvl="1"/>
            <a:r>
              <a:rPr lang="en-GB" altLang="en-US" sz="2200"/>
              <a:t>Bubble</a:t>
            </a:r>
          </a:p>
          <a:p>
            <a:pPr lvl="1"/>
            <a:r>
              <a:rPr lang="en-GB" altLang="en-US" sz="2200"/>
              <a:t>Hologram</a:t>
            </a:r>
          </a:p>
          <a:p>
            <a:pPr lvl="1"/>
            <a:r>
              <a:rPr lang="en-GB" altLang="en-US" sz="2200"/>
              <a:t> ……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{2A4056FA-690C-2945-B311-83CF961493D2}tf10001069</Template>
  <TotalTime>1035</TotalTime>
  <Words>206</Words>
  <Application>Microsoft Macintosh PowerPoint</Application>
  <PresentationFormat>On-screen Show (4:3)</PresentationFormat>
  <Paragraphs>62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</vt:lpstr>
      <vt:lpstr>Arial Black</vt:lpstr>
      <vt:lpstr>Verdana</vt:lpstr>
      <vt:lpstr>Monotype Sorts</vt:lpstr>
      <vt:lpstr>Arial</vt:lpstr>
      <vt:lpstr>Wisp</vt:lpstr>
      <vt:lpstr>Access Methods</vt:lpstr>
      <vt:lpstr>Access Methods</vt:lpstr>
      <vt:lpstr>Performance</vt:lpstr>
      <vt:lpstr>Performance</vt:lpstr>
      <vt:lpstr>Physical Characteristics</vt:lpstr>
      <vt:lpstr>Physical Types</vt:lpstr>
    </vt:vector>
  </TitlesOfParts>
  <Company>Liverpool Hope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Cache Memory</dc:title>
  <dc:creator>Adrian J Pullin</dc:creator>
  <cp:lastModifiedBy>Microsoft Office User</cp:lastModifiedBy>
  <cp:revision>101</cp:revision>
  <dcterms:created xsi:type="dcterms:W3CDTF">1998-09-09T13:12:25Z</dcterms:created>
  <dcterms:modified xsi:type="dcterms:W3CDTF">2020-02-28T10:18:28Z</dcterms:modified>
</cp:coreProperties>
</file>